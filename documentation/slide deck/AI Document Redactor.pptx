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97d62641-973d-746a-a420-392aca46aed2}">
          <p14:sldIdLst>
            <p14:sldId id="256"/>
            <p14:sldId id="257"/>
          </p14:sldIdLst>
        </p14:section>
        <p14:section name="Why" id="{939c04ef-a79a-754c-b31a-02482cea50a3}">
          <p14:sldIdLst>
            <p14:sldId id="258"/>
            <p14:sldId id="259"/>
          </p14:sldIdLst>
        </p14:section>
        <p14:section name="The app" id="{dcf5c468-a1a0-1bd6-be28-eb73153a0d69}">
          <p14:sldIdLst>
            <p14:sldId id="260"/>
            <p14:sldId id="261"/>
            <p14:sldId id="262"/>
            <p14:sldId id="263"/>
          </p14:sldIdLst>
        </p14:section>
        <p14:section name="The method" id="{3fff8d63-7e60-762b-d2a7-5cefa84066f4}">
          <p14:sldIdLst>
            <p14:sldId id="264"/>
            <p14:sldId id="265"/>
          </p14:sldIdLst>
        </p14:section>
        <p14:section name="The results" id="{b0a8b752-b4a2-1752-3587-d83568e65aaf}">
          <p14:sldIdLst>
            <p14:sldId id="266"/>
            <p14:sldId id="267"/>
            <p14:sldId id="268"/>
          </p14:sldIdLst>
        </p14:section>
        <p14:section name="Close" id="{dd6145d8-59a5-ad18-42e0-0b730d326ad5}">
          <p14:sldIdLst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Recall (% of sensitive items removed)</c:v>
                </c:pt>
              </c:strCache>
            </c:strRef>
          </c:tx>
          <c:spPr>
            <a:solidFill>
              <a:srgbClr val="343F4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7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gemma4:31b</c:v>
                  </c:pt>
                  <c:pt idx="1">
                    <c:v>qwen3.6:27b</c:v>
                  </c:pt>
                  <c:pt idx="2">
                    <c:v>gpt-oss</c:v>
                  </c:pt>
                  <c:pt idx="3">
                    <c:v>phi4</c:v>
                  </c:pt>
                  <c:pt idx="4">
                    <c:v>gemma4:e4b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97.7</c:v>
                </c:pt>
                <c:pt idx="1">
                  <c:v>98</c:v>
                </c:pt>
                <c:pt idx="2">
                  <c:v>94.6</c:v>
                </c:pt>
                <c:pt idx="3">
                  <c:v>94.4</c:v>
                </c:pt>
                <c:pt idx="4">
                  <c:v>89.5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Precision (% of removals that were right)</c:v>
                </c:pt>
              </c:strCache>
            </c:strRef>
          </c:tx>
          <c:spPr>
            <a:solidFill>
              <a:srgbClr val="FFC72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7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gemma4:31b</c:v>
                  </c:pt>
                  <c:pt idx="1">
                    <c:v>qwen3.6:27b</c:v>
                  </c:pt>
                  <c:pt idx="2">
                    <c:v>gpt-oss</c:v>
                  </c:pt>
                  <c:pt idx="3">
                    <c:v>phi4</c:v>
                  </c:pt>
                  <c:pt idx="4">
                    <c:v>gemma4:e4b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86.5</c:v>
                </c:pt>
                <c:pt idx="1">
                  <c:v>77</c:v>
                </c:pt>
                <c:pt idx="2">
                  <c:v>84.7</c:v>
                </c:pt>
                <c:pt idx="3">
                  <c:v>74.2</c:v>
                </c:pt>
                <c:pt idx="4">
                  <c:v>73.7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F27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7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50"/>
        </c:scaling>
        <c:delete val="0"/>
        <c:axPos val="l"/>
        <c:majorGridlines>
          <c:spPr>
            <a:ln w="6350" cap="flat">
              <a:solidFill>
                <a:srgbClr val="D5DB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67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F27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343F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AB4C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2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Redacting documents with local AI models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AB4C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1463040"/>
            <a:ext cx="10424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Redacting documents with </a:t>
            </a:r>
            <a:pPr indent="0" marL="0">
              <a:buNone/>
            </a:pPr>
            <a:r>
              <a:rPr lang="en-US" sz="5400" b="1" dirty="0">
                <a:solidFill>
                  <a:srgbClr val="343F4E"/>
                </a:solidFill>
                <a:highlight>
                  <a:srgbClr val="FFC72C"/>
                </a:highlight>
                <a:latin typeface="Cambria" pitchFamily="34" charset="0"/>
                <a:ea typeface="Cambria" pitchFamily="34" charset="-122"/>
                <a:cs typeface="Cambria" pitchFamily="34" charset="-120"/>
              </a:rPr>
              <a:t>local</a:t>
            </a:r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AI models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6118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C72C"/>
                </a:solidFill>
              </a:rPr>
              <a:t>A 5-day prototype, built with Claude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669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1DA"/>
                </a:solidFill>
              </a:rPr>
              <a:t>Dave Berry  ·  Answer Digital</a:t>
            </a:r>
            <a:endParaRPr lang="en-US" sz="1800" dirty="0"/>
          </a:p>
        </p:txBody>
      </p:sp>
      <p:sp>
        <p:nvSpPr>
          <p:cNvPr id="5" name="redaction bar"/>
          <p:cNvSpPr/>
          <p:nvPr/>
        </p:nvSpPr>
        <p:spPr>
          <a:xfrm>
            <a:off x="8138160" y="5303520"/>
            <a:ext cx="3291840" cy="146304"/>
          </a:xfrm>
          <a:prstGeom prst="rect">
            <a:avLst/>
          </a:prstGeom>
          <a:solidFill>
            <a:srgbClr val="1F2733"/>
          </a:solidFill>
          <a:ln w="12700">
            <a:solidFill>
              <a:srgbClr val="1F2733"/>
            </a:solidFill>
            <a:prstDash val="solid"/>
          </a:ln>
        </p:spPr>
      </p:sp>
      <p:sp>
        <p:nvSpPr>
          <p:cNvPr id="6" name="redaction bar"/>
          <p:cNvSpPr/>
          <p:nvPr/>
        </p:nvSpPr>
        <p:spPr>
          <a:xfrm>
            <a:off x="8138160" y="5577840"/>
            <a:ext cx="2194560" cy="146304"/>
          </a:xfrm>
          <a:prstGeom prst="rect">
            <a:avLst/>
          </a:prstGeom>
          <a:solidFill>
            <a:srgbClr val="1F2733"/>
          </a:solidFill>
          <a:ln w="12700">
            <a:solidFill>
              <a:srgbClr val="1F2733"/>
            </a:solidFill>
            <a:prstDash val="solid"/>
          </a:ln>
        </p:spPr>
      </p:sp>
      <p:sp>
        <p:nvSpPr>
          <p:cNvPr id="7" name="redaction bar"/>
          <p:cNvSpPr/>
          <p:nvPr/>
        </p:nvSpPr>
        <p:spPr>
          <a:xfrm>
            <a:off x="8138160" y="5852160"/>
            <a:ext cx="2834640" cy="146304"/>
          </a:xfrm>
          <a:prstGeom prst="rect">
            <a:avLst/>
          </a:prstGeom>
          <a:solidFill>
            <a:srgbClr val="1F2733"/>
          </a:solidFill>
          <a:ln w="12700">
            <a:solidFill>
              <a:srgbClr val="1F2733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AB4C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C72C"/>
                </a:solidFill>
              </a:rPr>
              <a:t>The one thing to remember</a:t>
            </a:r>
            <a:endParaRPr lang="en-US" sz="18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188720"/>
            <a:ext cx="10972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can be the </a:t>
            </a:r>
            <a:pPr indent="0" marL="0">
              <a:buNone/>
            </a:pPr>
            <a:r>
              <a:rPr lang="en-US" sz="4600" b="1" dirty="0">
                <a:solidFill>
                  <a:srgbClr val="343F4E"/>
                </a:solidFill>
                <a:highlight>
                  <a:srgbClr val="FFC72C"/>
                </a:highlight>
                <a:latin typeface="Cambria" pitchFamily="34" charset="0"/>
                <a:ea typeface="Cambria" pitchFamily="34" charset="-122"/>
                <a:cs typeface="Cambria" pitchFamily="34" charset="-120"/>
              </a:rPr>
              <a:t>worker</a:t>
            </a:r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not just the workflow automation</a:t>
            </a:r>
            <a:endParaRPr lang="en-US" sz="4600" dirty="0"/>
          </a:p>
        </p:txBody>
      </p:sp>
      <p:sp>
        <p:nvSpPr>
          <p:cNvPr id="4" name="card"/>
          <p:cNvSpPr/>
          <p:nvPr/>
        </p:nvSpPr>
        <p:spPr>
          <a:xfrm>
            <a:off x="548640" y="365760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1F2733"/>
          </a:solidFill>
          <a:ln w="9525">
            <a:solidFill>
              <a:srgbClr val="D5DB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3977640"/>
            <a:ext cx="640080" cy="640080"/>
          </a:xfrm>
          <a:prstGeom prst="ellipse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pic>
        <p:nvPicPr>
          <p:cNvPr id="6" name="Image 0" descr="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5898" y="4124858"/>
            <a:ext cx="345643" cy="34564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47091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A real working app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1206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1DA"/>
                </a:solidFill>
              </a:rPr>
              <a:t>Not a slide of ideas: you can open it and use it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4297680" y="365760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1F2733"/>
          </a:solidFill>
          <a:ln w="9525">
            <a:solidFill>
              <a:srgbClr val="D5DB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17720" y="3977640"/>
            <a:ext cx="640080" cy="640080"/>
          </a:xfrm>
          <a:prstGeom prst="ellipse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pic>
        <p:nvPicPr>
          <p:cNvPr id="11" name="Image 1" descr="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938" y="4124858"/>
            <a:ext cx="345643" cy="34564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72000" y="47091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Local models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51206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1DA"/>
                </a:solidFill>
              </a:rPr>
              <a:t>Everything runs on one machine, nothing leaves it</a:t>
            </a:r>
            <a:endParaRPr lang="en-US" sz="1400" dirty="0"/>
          </a:p>
        </p:txBody>
      </p:sp>
      <p:sp>
        <p:nvSpPr>
          <p:cNvPr id="14" name="card"/>
          <p:cNvSpPr/>
          <p:nvPr/>
        </p:nvSpPr>
        <p:spPr>
          <a:xfrm>
            <a:off x="8046720" y="365760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1F2733"/>
          </a:solidFill>
          <a:ln w="9525">
            <a:solidFill>
              <a:srgbClr val="D5DB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366760" y="3977640"/>
            <a:ext cx="640080" cy="640080"/>
          </a:xfrm>
          <a:prstGeom prst="ellipse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pic>
        <p:nvPicPr>
          <p:cNvPr id="16" name="Image 2" descr="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3978" y="4124858"/>
            <a:ext cx="345643" cy="34564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321040" y="47091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Built in 5 days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321040" y="51206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1DA"/>
                </a:solidFill>
              </a:rPr>
              <a:t>Stories and plans in, working software out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AB4C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Redaction is slow, and mistakes are costly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733"/>
                </a:solidFill>
              </a:rPr>
              <a:t>Sensitive documents need names, addresses, ID numbers and more taken out before they can be shared. Doing it by hand is slow, tedious and easy to get wrong.</a:t>
            </a:r>
            <a:endParaRPr lang="en-US" sz="1800" dirty="0"/>
          </a:p>
        </p:txBody>
      </p:sp>
      <p:sp>
        <p:nvSpPr>
          <p:cNvPr id="4" name="card"/>
          <p:cNvSpPr/>
          <p:nvPr/>
        </p:nvSpPr>
        <p:spPr>
          <a:xfrm>
            <a:off x="548640" y="2697480"/>
            <a:ext cx="31089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5DB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3017520"/>
            <a:ext cx="731520" cy="731520"/>
          </a:xfrm>
          <a:prstGeom prst="ellipse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pic>
        <p:nvPicPr>
          <p:cNvPr id="6" name="Image 0" descr="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6930" y="3185770"/>
            <a:ext cx="395021" cy="3950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828800" y="310896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733"/>
                </a:solidFill>
              </a:rPr>
              <a:t>People</a:t>
            </a:r>
            <a:endParaRPr lang="en-US" sz="1800" dirty="0"/>
          </a:p>
        </p:txBody>
      </p:sp>
      <p:sp>
        <p:nvSpPr>
          <p:cNvPr id="8" name="card"/>
          <p:cNvSpPr/>
          <p:nvPr/>
        </p:nvSpPr>
        <p:spPr>
          <a:xfrm>
            <a:off x="3931920" y="2697480"/>
            <a:ext cx="31089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5DB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251960" y="3017520"/>
            <a:ext cx="731520" cy="731520"/>
          </a:xfrm>
          <a:prstGeom prst="ellipse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pic>
        <p:nvPicPr>
          <p:cNvPr id="10" name="Image 1" descr="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0210" y="3185770"/>
            <a:ext cx="395021" cy="39502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212080" y="310896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733"/>
                </a:solidFill>
              </a:rPr>
              <a:t>Addresses</a:t>
            </a:r>
            <a:endParaRPr lang="en-US" sz="1800" dirty="0"/>
          </a:p>
        </p:txBody>
      </p:sp>
      <p:sp>
        <p:nvSpPr>
          <p:cNvPr id="12" name="card"/>
          <p:cNvSpPr/>
          <p:nvPr/>
        </p:nvSpPr>
        <p:spPr>
          <a:xfrm>
            <a:off x="548640" y="4297680"/>
            <a:ext cx="31089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5DB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868680" y="4617720"/>
            <a:ext cx="731520" cy="731520"/>
          </a:xfrm>
          <a:prstGeom prst="ellipse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pic>
        <p:nvPicPr>
          <p:cNvPr id="14" name="Image 2" descr="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930" y="4785970"/>
            <a:ext cx="395021" cy="395021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828800" y="470916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733"/>
                </a:solidFill>
              </a:rPr>
              <a:t>ID numbers</a:t>
            </a:r>
            <a:endParaRPr lang="en-US" sz="1800" dirty="0"/>
          </a:p>
        </p:txBody>
      </p:sp>
      <p:sp>
        <p:nvSpPr>
          <p:cNvPr id="16" name="card"/>
          <p:cNvSpPr/>
          <p:nvPr/>
        </p:nvSpPr>
        <p:spPr>
          <a:xfrm>
            <a:off x="3931920" y="4297680"/>
            <a:ext cx="31089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5DB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4251960" y="4617720"/>
            <a:ext cx="731520" cy="731520"/>
          </a:xfrm>
          <a:prstGeom prst="ellipse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pic>
        <p:nvPicPr>
          <p:cNvPr id="18" name="Image 3" descr="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0210" y="4785970"/>
            <a:ext cx="395021" cy="395021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212080" y="470916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733"/>
                </a:solidFill>
              </a:rPr>
              <a:t>Emails and phones</a:t>
            </a:r>
            <a:endParaRPr lang="en-US" sz="1800" dirty="0"/>
          </a:p>
        </p:txBody>
      </p:sp>
      <p:sp>
        <p:nvSpPr>
          <p:cNvPr id="20" name="card"/>
          <p:cNvSpPr/>
          <p:nvPr/>
        </p:nvSpPr>
        <p:spPr>
          <a:xfrm>
            <a:off x="7863840" y="1371600"/>
            <a:ext cx="3749040" cy="4480560"/>
          </a:xfrm>
          <a:prstGeom prst="roundRect">
            <a:avLst>
              <a:gd name="adj" fmla="val 2927"/>
            </a:avLst>
          </a:prstGeom>
          <a:solidFill>
            <a:srgbClr val="343F4E"/>
          </a:solidFill>
          <a:ln w="9525">
            <a:solidFill>
              <a:srgbClr val="D5DB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Text 15"/>
          <p:cNvSpPr txBox="1"/>
          <p:nvPr/>
        </p:nvSpPr>
        <p:spPr>
          <a:xfrm>
            <a:off x="8183880" y="16459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C72C"/>
                </a:solidFill>
              </a:rPr>
              <a:t>Why now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8183880" y="205740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Trade Remedies Authority</a:t>
            </a:r>
            <a:endParaRPr lang="en-US" sz="2800" dirty="0"/>
          </a:p>
        </p:txBody>
      </p:sp>
      <p:sp>
        <p:nvSpPr>
          <p:cNvPr id="23" name="Text 17"/>
          <p:cNvSpPr txBox="1"/>
          <p:nvPr/>
        </p:nvSpPr>
        <p:spPr>
          <a:xfrm>
            <a:off x="8183880" y="3200400"/>
            <a:ext cx="3200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DE3EA"/>
                </a:solidFill>
              </a:rPr>
              <a:t>Our new client has just entered its discovery phase. Handling sensitive case documents safely is exactly where this could help.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local models?</a:t>
            </a:r>
            <a:endParaRPr lang="en-US" sz="3600" dirty="0"/>
          </a:p>
        </p:txBody>
      </p:sp>
      <p:sp>
        <p:nvSpPr>
          <p:cNvPr id="3" name="card"/>
          <p:cNvSpPr/>
          <p:nvPr/>
        </p:nvSpPr>
        <p:spPr>
          <a:xfrm>
            <a:off x="548640" y="1508760"/>
            <a:ext cx="3520440" cy="29260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9525">
            <a:solidFill>
              <a:srgbClr val="D5DB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1874520"/>
            <a:ext cx="822960" cy="822960"/>
          </a:xfrm>
          <a:prstGeom prst="ellipse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pic>
        <p:nvPicPr>
          <p:cNvPr id="5" name="Image 0" descr="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961" y="2063801"/>
            <a:ext cx="444398" cy="44439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926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733"/>
                </a:solidFill>
              </a:rPr>
              <a:t>Documents stay put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4290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675"/>
                </a:solidFill>
              </a:rPr>
              <a:t>Nothing is sent to a cloud API. The text never leaves the machine.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4297680" y="1508760"/>
            <a:ext cx="3520440" cy="29260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9525">
            <a:solidFill>
              <a:srgbClr val="D5DB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17720" y="1874520"/>
            <a:ext cx="822960" cy="822960"/>
          </a:xfrm>
          <a:prstGeom prst="ellipse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pic>
        <p:nvPicPr>
          <p:cNvPr id="10" name="Image 1" descr="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7001" y="2063801"/>
            <a:ext cx="444398" cy="44439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72000" y="2926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733"/>
                </a:solidFill>
              </a:rPr>
              <a:t>No per-token bill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34290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675"/>
                </a:solidFill>
              </a:rPr>
              <a:t>Run it over thousands of documents without watching a meter.</a:t>
            </a:r>
            <a:endParaRPr lang="en-US" sz="1500" dirty="0"/>
          </a:p>
        </p:txBody>
      </p:sp>
      <p:sp>
        <p:nvSpPr>
          <p:cNvPr id="13" name="card"/>
          <p:cNvSpPr/>
          <p:nvPr/>
        </p:nvSpPr>
        <p:spPr>
          <a:xfrm>
            <a:off x="8046720" y="1508760"/>
            <a:ext cx="3520440" cy="29260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9525">
            <a:solidFill>
              <a:srgbClr val="D5DB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366760" y="1874520"/>
            <a:ext cx="822960" cy="822960"/>
          </a:xfrm>
          <a:prstGeom prst="ellipse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pic>
        <p:nvPicPr>
          <p:cNvPr id="15" name="Image 2" descr="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6041" y="2063801"/>
            <a:ext cx="444398" cy="44439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1040" y="2926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733"/>
                </a:solidFill>
              </a:rPr>
              <a:t>Safe to test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321040" y="34290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675"/>
                </a:solidFill>
              </a:rPr>
              <a:t>We can try, measure and replay runs freely, because nothing is exposed.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548640" y="4754880"/>
            <a:ext cx="11094415" cy="1188720"/>
          </a:xfrm>
          <a:prstGeom prst="roundRect">
            <a:avLst>
              <a:gd name="adj" fmla="val 9231"/>
            </a:avLst>
          </a:prstGeom>
          <a:solidFill>
            <a:srgbClr val="FFC72C"/>
          </a:solidFill>
          <a:ln w="9525">
            <a:solidFill>
              <a:srgbClr val="D5DB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3" descr="chip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5074920"/>
            <a:ext cx="548640" cy="54864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45920" y="4846320"/>
            <a:ext cx="96313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733"/>
                </a:solidFill>
              </a:rPr>
              <a:t>New to this? </a:t>
            </a:r>
            <a:pPr indent="0" marL="0">
              <a:buNone/>
            </a:pPr>
            <a:r>
              <a:rPr lang="en-US" sz="1600" dirty="0">
                <a:solidFill>
                  <a:srgbClr val="1F2733"/>
                </a:solidFill>
              </a:rPr>
              <a:t>Ollama is a free app that downloads and runs open AI models on your own computer. Our app talks to it like it would talk to a cloud service.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 built: the results Explorer</a:t>
            </a:r>
            <a:endParaRPr lang="en-US" sz="3600" dirty="0"/>
          </a:p>
        </p:txBody>
      </p:sp>
      <p:pic>
        <p:nvPicPr>
          <p:cNvPr id="3" name="Results Explorer leaderboard screenshot" descr="Results Explorer leaderboard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280160"/>
            <a:ext cx="10241280" cy="3968496"/>
          </a:xfrm>
          <a:prstGeom prst="rect">
            <a:avLst/>
          </a:prstGeom>
        </p:spPr>
      </p:pic>
      <p:sp>
        <p:nvSpPr>
          <p:cNvPr id="4" name="frame"/>
          <p:cNvSpPr/>
          <p:nvPr/>
        </p:nvSpPr>
        <p:spPr>
          <a:xfrm>
            <a:off x="1005840" y="1280160"/>
            <a:ext cx="10241280" cy="3968496"/>
          </a:xfrm>
          <a:prstGeom prst="rect">
            <a:avLst/>
          </a:prstGeom>
          <a:ln w="9525">
            <a:solidFill>
              <a:srgbClr val="D5DBE1"/>
            </a:solidFill>
            <a:prstDash val="solid"/>
          </a:ln>
        </p:spPr>
      </p:sp>
      <p:sp>
        <p:nvSpPr>
          <p:cNvPr id="5" name="callout 1"/>
          <p:cNvSpPr/>
          <p:nvPr/>
        </p:nvSpPr>
        <p:spPr>
          <a:xfrm>
            <a:off x="1272845" y="2673706"/>
            <a:ext cx="310896" cy="310896"/>
          </a:xfrm>
          <a:prstGeom prst="ellipse">
            <a:avLst/>
          </a:prstGeom>
          <a:solidFill>
            <a:srgbClr val="D653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272845" y="267370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callout 2"/>
          <p:cNvSpPr/>
          <p:nvPr/>
        </p:nvSpPr>
        <p:spPr>
          <a:xfrm>
            <a:off x="3077870" y="2315261"/>
            <a:ext cx="310896" cy="310896"/>
          </a:xfrm>
          <a:prstGeom prst="ellipse">
            <a:avLst/>
          </a:prstGeom>
          <a:solidFill>
            <a:srgbClr val="D653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077870" y="231526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callout 3"/>
          <p:cNvSpPr/>
          <p:nvPr/>
        </p:nvSpPr>
        <p:spPr>
          <a:xfrm>
            <a:off x="8070494" y="2315261"/>
            <a:ext cx="310896" cy="310896"/>
          </a:xfrm>
          <a:prstGeom prst="ellipse">
            <a:avLst/>
          </a:prstGeom>
          <a:solidFill>
            <a:srgbClr val="D653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070494" y="231526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callout 4"/>
          <p:cNvSpPr/>
          <p:nvPr/>
        </p:nvSpPr>
        <p:spPr>
          <a:xfrm>
            <a:off x="3410712" y="1476756"/>
            <a:ext cx="310896" cy="310896"/>
          </a:xfrm>
          <a:prstGeom prst="ellipse">
            <a:avLst/>
          </a:prstGeom>
          <a:solidFill>
            <a:srgbClr val="D653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410712" y="14767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5486400"/>
            <a:ext cx="310896" cy="310896"/>
          </a:xfrm>
          <a:prstGeom prst="ellipse">
            <a:avLst/>
          </a:prstGeom>
          <a:solidFill>
            <a:srgbClr val="D6537A"/>
          </a:solidFill>
          <a:ln w="12700">
            <a:solidFill>
              <a:srgbClr val="D6537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5486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960120" y="544068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733"/>
                </a:solidFill>
              </a:rPr>
              <a:t>Each row is a setup: one AI model, or no model as a baseline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337560" y="5486400"/>
            <a:ext cx="310896" cy="310896"/>
          </a:xfrm>
          <a:prstGeom prst="ellipse">
            <a:avLst/>
          </a:prstGeom>
          <a:solidFill>
            <a:srgbClr val="D6537A"/>
          </a:solidFill>
          <a:ln w="12700">
            <a:solidFill>
              <a:srgbClr val="D6537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337560" y="5486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3749040" y="544068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733"/>
                </a:solidFill>
              </a:rPr>
              <a:t>Recall: how much of the sensitive text was removed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126480" y="5486400"/>
            <a:ext cx="310896" cy="310896"/>
          </a:xfrm>
          <a:prstGeom prst="ellipse">
            <a:avLst/>
          </a:prstGeom>
          <a:solidFill>
            <a:srgbClr val="D6537A"/>
          </a:solidFill>
          <a:ln w="12700">
            <a:solidFill>
              <a:srgbClr val="D6537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126480" y="5486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6537960" y="544068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733"/>
                </a:solidFill>
              </a:rPr>
              <a:t>Over-redactions: removed, but it did not need to be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8915400" y="5486400"/>
            <a:ext cx="310896" cy="310896"/>
          </a:xfrm>
          <a:prstGeom prst="ellipse">
            <a:avLst/>
          </a:prstGeom>
          <a:solidFill>
            <a:srgbClr val="D6537A"/>
          </a:solidFill>
          <a:ln w="12700">
            <a:solidFill>
              <a:srgbClr val="D6537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915400" y="5486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9326880" y="544068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733"/>
                </a:solidFill>
              </a:rPr>
              <a:t>Filters slice the results by document type or format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and after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675"/>
                </a:solidFill>
              </a:rPr>
              <a:t>ORIGINAL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217920" y="12801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675"/>
                </a:solidFill>
              </a:rPr>
              <a:t>REDACTED BY GEMMA4:31B</a:t>
            </a:r>
            <a:endParaRPr lang="en-US" sz="1400" dirty="0"/>
          </a:p>
        </p:txBody>
      </p:sp>
      <p:pic>
        <p:nvPicPr>
          <p:cNvPr id="5" name="Original synthetic HR letter" descr="Original synthetic HR let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4846320" cy="3877056"/>
          </a:xfrm>
          <a:prstGeom prst="rect">
            <a:avLst/>
          </a:prstGeom>
        </p:spPr>
      </p:pic>
      <p:sp>
        <p:nvSpPr>
          <p:cNvPr id="6" name="frame"/>
          <p:cNvSpPr/>
          <p:nvPr/>
        </p:nvSpPr>
        <p:spPr>
          <a:xfrm>
            <a:off x="548640" y="1645920"/>
            <a:ext cx="4846320" cy="3877056"/>
          </a:xfrm>
          <a:prstGeom prst="rect">
            <a:avLst/>
          </a:prstGeom>
          <a:ln w="9525">
            <a:solidFill>
              <a:srgbClr val="D5DBE1"/>
            </a:solidFill>
            <a:prstDash val="solid"/>
          </a:ln>
        </p:spPr>
      </p:sp>
      <p:pic>
        <p:nvPicPr>
          <p:cNvPr id="7" name="Same letter after redaction" descr="Same letter after redac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4846320" cy="3877056"/>
          </a:xfrm>
          <a:prstGeom prst="rect">
            <a:avLst/>
          </a:prstGeom>
        </p:spPr>
      </p:pic>
      <p:sp>
        <p:nvSpPr>
          <p:cNvPr id="8" name="frame"/>
          <p:cNvSpPr/>
          <p:nvPr/>
        </p:nvSpPr>
        <p:spPr>
          <a:xfrm>
            <a:off x="6217920" y="1645920"/>
            <a:ext cx="4846320" cy="3877056"/>
          </a:xfrm>
          <a:prstGeom prst="rect">
            <a:avLst/>
          </a:prstGeom>
          <a:ln w="9525">
            <a:solidFill>
              <a:srgbClr val="D5DBE1"/>
            </a:solidFill>
            <a:prstDash val="solid"/>
          </a:ln>
        </p:spPr>
      </p:sp>
      <p:sp>
        <p:nvSpPr>
          <p:cNvPr id="9" name="arrow"/>
          <p:cNvSpPr/>
          <p:nvPr/>
        </p:nvSpPr>
        <p:spPr>
          <a:xfrm>
            <a:off x="5504688" y="3310128"/>
            <a:ext cx="603504" cy="548640"/>
          </a:xfrm>
          <a:prstGeom prst="rightArrow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57607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733"/>
                </a:solidFill>
              </a:rPr>
              <a:t>A synthetic HR letter. Each removal is labelled with what it was: company, address, phone, email, person, date of birth.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finds things</a:t>
            </a:r>
            <a:endParaRPr lang="en-US" sz="3600" dirty="0"/>
          </a:p>
        </p:txBody>
      </p:sp>
      <p:pic>
        <p:nvPicPr>
          <p:cNvPr id="3" name="Categories dialog" descr="Categories dial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527236" cy="4480560"/>
          </a:xfrm>
          <a:prstGeom prst="rect">
            <a:avLst/>
          </a:prstGeom>
        </p:spPr>
      </p:pic>
      <p:sp>
        <p:nvSpPr>
          <p:cNvPr id="4" name="frame"/>
          <p:cNvSpPr/>
          <p:nvPr/>
        </p:nvSpPr>
        <p:spPr>
          <a:xfrm>
            <a:off x="548640" y="1371600"/>
            <a:ext cx="6527236" cy="4480560"/>
          </a:xfrm>
          <a:prstGeom prst="rect">
            <a:avLst/>
          </a:prstGeom>
          <a:ln w="9525">
            <a:solidFill>
              <a:srgbClr val="D5DBE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441636" y="1508760"/>
            <a:ext cx="640080" cy="640080"/>
          </a:xfrm>
          <a:prstGeom prst="ellipse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pic>
        <p:nvPicPr>
          <p:cNvPr id="6" name="Image 1" descr="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854" y="1655978"/>
            <a:ext cx="345643" cy="345643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264596" y="13716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733"/>
                </a:solidFill>
              </a:rPr>
              <a:t>Fixed rules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8264596" y="1755648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675"/>
                </a:solidFill>
              </a:rPr>
              <a:t>Precise patterns for the obvious: emails, UK phone numbers, postcodes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7441636" y="2651760"/>
            <a:ext cx="640080" cy="640080"/>
          </a:xfrm>
          <a:prstGeom prst="ellipse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pic>
        <p:nvPicPr>
          <p:cNvPr id="10" name="Image 2" descr="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8854" y="2798978"/>
            <a:ext cx="345643" cy="345643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264596" y="25146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733"/>
                </a:solidFill>
              </a:rPr>
              <a:t>An AI model</a:t>
            </a:r>
            <a:endParaRPr lang="en-US" sz="1800" dirty="0"/>
          </a:p>
        </p:txBody>
      </p:sp>
      <p:sp>
        <p:nvSpPr>
          <p:cNvPr id="12" name="Text 7"/>
          <p:cNvSpPr txBox="1"/>
          <p:nvPr/>
        </p:nvSpPr>
        <p:spPr>
          <a:xfrm>
            <a:off x="8264596" y="2898648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675"/>
                </a:solidFill>
              </a:rPr>
              <a:t>Reads the document with a prompt you can see and change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7441636" y="3794760"/>
            <a:ext cx="640080" cy="640080"/>
          </a:xfrm>
          <a:prstGeom prst="ellipse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pic>
        <p:nvPicPr>
          <p:cNvPr id="14" name="Image 3" descr="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8854" y="3941978"/>
            <a:ext cx="345643" cy="345643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264596" y="36576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733"/>
                </a:solidFill>
              </a:rPr>
              <a:t>A second opinion</a:t>
            </a:r>
            <a:endParaRPr lang="en-US" sz="1800" dirty="0"/>
          </a:p>
        </p:txBody>
      </p:sp>
      <p:sp>
        <p:nvSpPr>
          <p:cNvPr id="16" name="Text 10"/>
          <p:cNvSpPr txBox="1"/>
          <p:nvPr/>
        </p:nvSpPr>
        <p:spPr>
          <a:xfrm>
            <a:off x="8264596" y="4041648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675"/>
                </a:solidFill>
              </a:rPr>
              <a:t>GLiNER, a small model that flags what the first one missed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7441636" y="4937760"/>
            <a:ext cx="640080" cy="640080"/>
          </a:xfrm>
          <a:prstGeom prst="ellipse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pic>
        <p:nvPicPr>
          <p:cNvPr id="18" name="Image 4" descr="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8854" y="5084978"/>
            <a:ext cx="345643" cy="34564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8264596" y="48006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733"/>
                </a:solidFill>
              </a:rPr>
              <a:t>Your own terms</a:t>
            </a:r>
            <a:endParaRPr lang="en-US" sz="1800" dirty="0"/>
          </a:p>
        </p:txBody>
      </p:sp>
      <p:sp>
        <p:nvSpPr>
          <p:cNvPr id="20" name="Text 13"/>
          <p:cNvSpPr txBox="1"/>
          <p:nvPr/>
        </p:nvSpPr>
        <p:spPr>
          <a:xfrm>
            <a:off x="8264596" y="5184648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675"/>
                </a:solidFill>
              </a:rPr>
              <a:t>Custom lists, such as project codenames</a:t>
            </a:r>
            <a:endParaRPr lang="en-US" sz="1400" dirty="0"/>
          </a:p>
        </p:txBody>
      </p:sp>
      <p:sp>
        <p:nvSpPr>
          <p:cNvPr id="21" name="Text 14"/>
          <p:cNvSpPr txBox="1"/>
          <p:nvPr/>
        </p:nvSpPr>
        <p:spPr>
          <a:xfrm>
            <a:off x="548640" y="5943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675"/>
                </a:solidFill>
              </a:rPr>
              <a:t>Screenshot: the Categories dialog. Switch each category on or off, and choose Redact or Flag.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Architecture: simple on purpose</a:t>
            </a:r>
            <a:endParaRPr lang="en-US" sz="3600" dirty="0"/>
          </a:p>
        </p:txBody>
      </p:sp>
      <p:sp>
        <p:nvSpPr>
          <p:cNvPr id="3" name="card"/>
          <p:cNvSpPr/>
          <p:nvPr/>
        </p:nvSpPr>
        <p:spPr>
          <a:xfrm>
            <a:off x="548640" y="2103120"/>
            <a:ext cx="310896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B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645920" y="2377440"/>
            <a:ext cx="914400" cy="914400"/>
          </a:xfrm>
          <a:prstGeom prst="ellipse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pic>
        <p:nvPicPr>
          <p:cNvPr id="5" name="Image 0" descr="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56232" y="2587752"/>
            <a:ext cx="493776" cy="4937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35204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733"/>
                </a:solidFill>
              </a:rPr>
              <a:t>Documents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40233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675"/>
                </a:solidFill>
              </a:rPr>
              <a:t>Word, PDF, scans, text, CSV, JSON</a:t>
            </a:r>
            <a:endParaRPr lang="en-US" sz="1400" dirty="0"/>
          </a:p>
        </p:txBody>
      </p:sp>
      <p:sp>
        <p:nvSpPr>
          <p:cNvPr id="8" name="arrow"/>
          <p:cNvSpPr/>
          <p:nvPr/>
        </p:nvSpPr>
        <p:spPr>
          <a:xfrm>
            <a:off x="3749040" y="3200400"/>
            <a:ext cx="640080" cy="502920"/>
          </a:xfrm>
          <a:prstGeom prst="rightArrow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sp>
        <p:nvSpPr>
          <p:cNvPr id="9" name="card"/>
          <p:cNvSpPr/>
          <p:nvPr/>
        </p:nvSpPr>
        <p:spPr>
          <a:xfrm>
            <a:off x="4480560" y="2103120"/>
            <a:ext cx="310896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B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577840" y="2377440"/>
            <a:ext cx="914400" cy="914400"/>
          </a:xfrm>
          <a:prstGeom prst="ellipse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pic>
        <p:nvPicPr>
          <p:cNvPr id="11" name="Image 1" descr="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8152" y="2587752"/>
            <a:ext cx="493776" cy="49377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63440" y="35204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733"/>
                </a:solidFill>
              </a:rPr>
              <a:t>Local model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4754880" y="40233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675"/>
                </a:solidFill>
              </a:rPr>
              <a:t>Called on this machine through Ollama</a:t>
            </a:r>
            <a:endParaRPr lang="en-US" sz="1400" dirty="0"/>
          </a:p>
        </p:txBody>
      </p:sp>
      <p:sp>
        <p:nvSpPr>
          <p:cNvPr id="14" name="arrow"/>
          <p:cNvSpPr/>
          <p:nvPr/>
        </p:nvSpPr>
        <p:spPr>
          <a:xfrm>
            <a:off x="7680960" y="3200400"/>
            <a:ext cx="640080" cy="502920"/>
          </a:xfrm>
          <a:prstGeom prst="rightArrow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sp>
        <p:nvSpPr>
          <p:cNvPr id="15" name="card"/>
          <p:cNvSpPr/>
          <p:nvPr/>
        </p:nvSpPr>
        <p:spPr>
          <a:xfrm>
            <a:off x="8412480" y="2103120"/>
            <a:ext cx="310896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B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509760" y="2377440"/>
            <a:ext cx="914400" cy="914400"/>
          </a:xfrm>
          <a:prstGeom prst="ellipse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pic>
        <p:nvPicPr>
          <p:cNvPr id="17" name="Image 2" descr="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0072" y="2587752"/>
            <a:ext cx="493776" cy="49377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595360" y="35204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733"/>
                </a:solidFill>
              </a:rPr>
              <a:t>Results</a:t>
            </a:r>
            <a:endParaRPr lang="en-US" sz="2200" dirty="0"/>
          </a:p>
        </p:txBody>
      </p:sp>
      <p:sp>
        <p:nvSpPr>
          <p:cNvPr id="19" name="Text 14"/>
          <p:cNvSpPr txBox="1"/>
          <p:nvPr/>
        </p:nvSpPr>
        <p:spPr>
          <a:xfrm>
            <a:off x="8686800" y="40233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675"/>
                </a:solidFill>
              </a:rPr>
              <a:t>Redacted files, edits and scores stored as data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548640" y="53035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733"/>
                </a:solidFill>
              </a:rPr>
              <a:t>Document in, model called locally, results stored. Nothing else leaves the building.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Prototype first, then measure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920240" y="2331720"/>
            <a:ext cx="8351215" cy="0"/>
          </a:xfrm>
          <a:prstGeom prst="line">
            <a:avLst/>
          </a:prstGeom>
          <a:noFill/>
          <a:ln w="25400">
            <a:solidFill>
              <a:srgbClr val="5B6675"/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1554480" y="1965960"/>
            <a:ext cx="731520" cy="731520"/>
          </a:xfrm>
          <a:prstGeom prst="ellipse">
            <a:avLst/>
          </a:prstGeom>
          <a:solidFill>
            <a:srgbClr val="FFC72C"/>
          </a:solidFill>
          <a:ln w="25400">
            <a:solidFill>
              <a:srgbClr val="343F4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554480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733"/>
                </a:solidFill>
              </a:rPr>
              <a:t>1</a:t>
            </a:r>
            <a:endParaRPr lang="en-US" sz="2600" dirty="0"/>
          </a:p>
        </p:txBody>
      </p:sp>
      <p:sp>
        <p:nvSpPr>
          <p:cNvPr id="6" name="card"/>
          <p:cNvSpPr/>
          <p:nvPr/>
        </p:nvSpPr>
        <p:spPr>
          <a:xfrm>
            <a:off x="594360" y="3063240"/>
            <a:ext cx="26517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5DB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77240" y="32004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733"/>
                </a:solidFill>
              </a:rPr>
              <a:t>Tiny prototype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5760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675"/>
                </a:solidFill>
              </a:rPr>
              <a:t>One category at a time, to see whether a local model could do it at all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38218" y="1965960"/>
            <a:ext cx="731520" cy="731520"/>
          </a:xfrm>
          <a:prstGeom prst="ellipse">
            <a:avLst/>
          </a:prstGeom>
          <a:solidFill>
            <a:srgbClr val="FFC72C"/>
          </a:solidFill>
          <a:ln w="25400">
            <a:solidFill>
              <a:srgbClr val="343F4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38218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733"/>
                </a:solidFill>
              </a:rPr>
              <a:t>2</a:t>
            </a:r>
            <a:endParaRPr lang="en-US" sz="2600" dirty="0"/>
          </a:p>
        </p:txBody>
      </p:sp>
      <p:sp>
        <p:nvSpPr>
          <p:cNvPr id="11" name="card"/>
          <p:cNvSpPr/>
          <p:nvPr/>
        </p:nvSpPr>
        <p:spPr>
          <a:xfrm>
            <a:off x="3378098" y="3063240"/>
            <a:ext cx="26517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5DB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560978" y="32004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733"/>
                </a:solidFill>
              </a:rPr>
              <a:t>Real documents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560978" y="365760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675"/>
                </a:solidFill>
              </a:rPr>
              <a:t>Found realistic synthetic finance documents on Hugging Face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121957" y="1965960"/>
            <a:ext cx="731520" cy="731520"/>
          </a:xfrm>
          <a:prstGeom prst="ellipse">
            <a:avLst/>
          </a:prstGeom>
          <a:solidFill>
            <a:srgbClr val="FFC72C"/>
          </a:solidFill>
          <a:ln w="25400">
            <a:solidFill>
              <a:srgbClr val="343F4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121957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733"/>
                </a:solidFill>
              </a:rPr>
              <a:t>3</a:t>
            </a:r>
            <a:endParaRPr lang="en-US" sz="2600" dirty="0"/>
          </a:p>
        </p:txBody>
      </p:sp>
      <p:sp>
        <p:nvSpPr>
          <p:cNvPr id="16" name="card"/>
          <p:cNvSpPr/>
          <p:nvPr/>
        </p:nvSpPr>
        <p:spPr>
          <a:xfrm>
            <a:off x="6161837" y="3063240"/>
            <a:ext cx="26517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5DB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344717" y="32004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733"/>
                </a:solidFill>
              </a:rPr>
              <a:t>Evaluation suite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344717" y="365760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675"/>
                </a:solidFill>
              </a:rPr>
              <a:t>Grew it into a harness that runs every model over every document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9905695" y="1965960"/>
            <a:ext cx="731520" cy="731520"/>
          </a:xfrm>
          <a:prstGeom prst="ellipse">
            <a:avLst/>
          </a:prstGeom>
          <a:solidFill>
            <a:srgbClr val="FFC72C"/>
          </a:solidFill>
          <a:ln w="25400">
            <a:solidFill>
              <a:srgbClr val="343F4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905695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733"/>
                </a:solidFill>
              </a:rPr>
              <a:t>4</a:t>
            </a:r>
            <a:endParaRPr lang="en-US" sz="2600" dirty="0"/>
          </a:p>
        </p:txBody>
      </p:sp>
      <p:sp>
        <p:nvSpPr>
          <p:cNvPr id="21" name="card"/>
          <p:cNvSpPr/>
          <p:nvPr/>
        </p:nvSpPr>
        <p:spPr>
          <a:xfrm>
            <a:off x="8945575" y="3063240"/>
            <a:ext cx="26517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5DB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9128455" y="32004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733"/>
                </a:solidFill>
              </a:rPr>
              <a:t>The Explorer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9128455" y="365760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675"/>
                </a:solidFill>
              </a:rPr>
              <a:t>A UI to compare, replay and understand every result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 everything, then replay it</a:t>
            </a:r>
            <a:endParaRPr lang="en-US" sz="3600" dirty="0"/>
          </a:p>
        </p:txBody>
      </p:sp>
      <p:pic>
        <p:nvPicPr>
          <p:cNvPr id="3" name="Redaction view with previous runs" descr="Redaction view with previous ru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8595360" cy="3674516"/>
          </a:xfrm>
          <a:prstGeom prst="rect">
            <a:avLst/>
          </a:prstGeom>
        </p:spPr>
      </p:pic>
      <p:sp>
        <p:nvSpPr>
          <p:cNvPr id="4" name="frame"/>
          <p:cNvSpPr/>
          <p:nvPr/>
        </p:nvSpPr>
        <p:spPr>
          <a:xfrm>
            <a:off x="548640" y="1280160"/>
            <a:ext cx="8595360" cy="3674516"/>
          </a:xfrm>
          <a:prstGeom prst="rect">
            <a:avLst/>
          </a:prstGeom>
          <a:ln w="9525">
            <a:solidFill>
              <a:srgbClr val="D5DBE1"/>
            </a:solidFill>
            <a:prstDash val="solid"/>
          </a:ln>
        </p:spPr>
      </p:sp>
      <p:sp>
        <p:nvSpPr>
          <p:cNvPr id="5" name="callout 1"/>
          <p:cNvSpPr/>
          <p:nvPr/>
        </p:nvSpPr>
        <p:spPr>
          <a:xfrm>
            <a:off x="6329363" y="1414805"/>
            <a:ext cx="310896" cy="310896"/>
          </a:xfrm>
          <a:prstGeom prst="ellipse">
            <a:avLst/>
          </a:prstGeom>
          <a:solidFill>
            <a:srgbClr val="D653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329363" y="141480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callout 2"/>
          <p:cNvSpPr/>
          <p:nvPr/>
        </p:nvSpPr>
        <p:spPr>
          <a:xfrm>
            <a:off x="2004822" y="1371829"/>
            <a:ext cx="310896" cy="310896"/>
          </a:xfrm>
          <a:prstGeom prst="ellipse">
            <a:avLst/>
          </a:prstGeom>
          <a:solidFill>
            <a:srgbClr val="D653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004822" y="137182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callout 3"/>
          <p:cNvSpPr/>
          <p:nvPr/>
        </p:nvSpPr>
        <p:spPr>
          <a:xfrm>
            <a:off x="8182737" y="1457782"/>
            <a:ext cx="310896" cy="310896"/>
          </a:xfrm>
          <a:prstGeom prst="ellipse">
            <a:avLst/>
          </a:prstGeom>
          <a:solidFill>
            <a:srgbClr val="D653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182737" y="145778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9418320" y="1408176"/>
            <a:ext cx="310896" cy="310896"/>
          </a:xfrm>
          <a:prstGeom prst="ellipse">
            <a:avLst/>
          </a:prstGeom>
          <a:solidFill>
            <a:srgbClr val="D6537A"/>
          </a:solidFill>
          <a:ln w="12700">
            <a:solidFill>
              <a:srgbClr val="D6537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418320" y="14081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9875520" y="1371600"/>
            <a:ext cx="1828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733"/>
                </a:solidFill>
              </a:rPr>
              <a:t>Previous runs: replay a stored result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9418320" y="2596896"/>
            <a:ext cx="310896" cy="310896"/>
          </a:xfrm>
          <a:prstGeom prst="ellipse">
            <a:avLst/>
          </a:prstGeom>
          <a:solidFill>
            <a:srgbClr val="D6537A"/>
          </a:solidFill>
          <a:ln w="12700">
            <a:solidFill>
              <a:srgbClr val="D6537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418320" y="2596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9875520" y="2560320"/>
            <a:ext cx="1828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733"/>
                </a:solidFill>
              </a:rPr>
              <a:t>The original, with every sensitive item highlighted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9418320" y="3785616"/>
            <a:ext cx="310896" cy="310896"/>
          </a:xfrm>
          <a:prstGeom prst="ellipse">
            <a:avLst/>
          </a:prstGeom>
          <a:solidFill>
            <a:srgbClr val="D6537A"/>
          </a:solidFill>
          <a:ln w="12700">
            <a:solidFill>
              <a:srgbClr val="D6537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418320" y="37856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9875520" y="3749040"/>
            <a:ext cx="1828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733"/>
                </a:solidFill>
              </a:rPr>
              <a:t>The edits list: each change and its category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548640" y="5257800"/>
            <a:ext cx="1109441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5DB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777240" y="5303520"/>
            <a:ext cx="106372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733"/>
                </a:solidFill>
              </a:rPr>
              <a:t>Exported as much data as possible: stats first, then the actual output documents and every edit. That allows accurate comparisons and replays in the UI. Claude analysed each run and helped choose the next one.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evaluation in numbers</a:t>
            </a:r>
            <a:endParaRPr lang="en-US" sz="3600" dirty="0"/>
          </a:p>
        </p:txBody>
      </p:sp>
      <p:sp>
        <p:nvSpPr>
          <p:cNvPr id="3" name="card"/>
          <p:cNvSpPr/>
          <p:nvPr/>
        </p:nvSpPr>
        <p:spPr>
          <a:xfrm>
            <a:off x="548640" y="1554480"/>
            <a:ext cx="5440680" cy="2011680"/>
          </a:xfrm>
          <a:prstGeom prst="roundRect">
            <a:avLst>
              <a:gd name="adj" fmla="val 5455"/>
            </a:avLst>
          </a:prstGeom>
          <a:solidFill>
            <a:srgbClr val="1F2733"/>
          </a:solidFill>
          <a:ln w="9525">
            <a:solidFill>
              <a:srgbClr val="D5DB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914400" y="178308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C7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64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83464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models tried at the start</a:t>
            </a:r>
            <a:endParaRPr lang="en-US" sz="2000" dirty="0"/>
          </a:p>
        </p:txBody>
      </p:sp>
      <p:sp>
        <p:nvSpPr>
          <p:cNvPr id="6" name="card"/>
          <p:cNvSpPr/>
          <p:nvPr/>
        </p:nvSpPr>
        <p:spPr>
          <a:xfrm>
            <a:off x="6217920" y="1554480"/>
            <a:ext cx="5440680" cy="2011680"/>
          </a:xfrm>
          <a:prstGeom prst="roundRect">
            <a:avLst>
              <a:gd name="adj" fmla="val 5455"/>
            </a:avLst>
          </a:prstGeom>
          <a:solidFill>
            <a:srgbClr val="1F2733"/>
          </a:solidFill>
          <a:ln w="9525">
            <a:solidFill>
              <a:srgbClr val="D5DB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583680" y="178308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C7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6400" dirty="0"/>
          </a:p>
        </p:txBody>
      </p:sp>
      <p:sp>
        <p:nvSpPr>
          <p:cNvPr id="8" name="Text 6"/>
          <p:cNvSpPr txBox="1"/>
          <p:nvPr/>
        </p:nvSpPr>
        <p:spPr>
          <a:xfrm>
            <a:off x="6583680" y="283464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models kept for the long runs</a:t>
            </a:r>
            <a:endParaRPr lang="en-US" sz="2000" dirty="0"/>
          </a:p>
        </p:txBody>
      </p:sp>
      <p:sp>
        <p:nvSpPr>
          <p:cNvPr id="9" name="card"/>
          <p:cNvSpPr/>
          <p:nvPr/>
        </p:nvSpPr>
        <p:spPr>
          <a:xfrm>
            <a:off x="548640" y="3794760"/>
            <a:ext cx="5440680" cy="2011680"/>
          </a:xfrm>
          <a:prstGeom prst="roundRect">
            <a:avLst>
              <a:gd name="adj" fmla="val 5455"/>
            </a:avLst>
          </a:prstGeom>
          <a:solidFill>
            <a:srgbClr val="1F2733"/>
          </a:solidFill>
          <a:ln w="9525">
            <a:solidFill>
              <a:srgbClr val="D5DB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914400" y="402336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C7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750</a:t>
            </a:r>
            <a:endParaRPr lang="en-US" sz="64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507492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documents, in several file types</a:t>
            </a:r>
            <a:endParaRPr lang="en-US" sz="2000" dirty="0"/>
          </a:p>
        </p:txBody>
      </p:sp>
      <p:sp>
        <p:nvSpPr>
          <p:cNvPr id="12" name="card"/>
          <p:cNvSpPr/>
          <p:nvPr/>
        </p:nvSpPr>
        <p:spPr>
          <a:xfrm>
            <a:off x="6217920" y="3794760"/>
            <a:ext cx="5440680" cy="2011680"/>
          </a:xfrm>
          <a:prstGeom prst="roundRect">
            <a:avLst>
              <a:gd name="adj" fmla="val 5455"/>
            </a:avLst>
          </a:prstGeom>
          <a:solidFill>
            <a:srgbClr val="1F2733"/>
          </a:solidFill>
          <a:ln w="9525">
            <a:solidFill>
              <a:srgbClr val="D5DB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583680" y="402336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C7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17,250</a:t>
            </a:r>
            <a:endParaRPr lang="en-US" sz="64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0" y="507492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results to compare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080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B4C0"/>
                </a:solidFill>
              </a:rPr>
              <a:t>About 5 long runs. Final dataset: 4 October 2026.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AB4C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models can we recommend?</a:t>
            </a:r>
            <a:endParaRPr lang="en-US" sz="3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25880"/>
          <a:ext cx="694944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"/>
          <p:cNvSpPr/>
          <p:nvPr/>
        </p:nvSpPr>
        <p:spPr>
          <a:xfrm>
            <a:off x="7863840" y="1371600"/>
            <a:ext cx="37947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D5DB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8092440" y="15087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675"/>
                </a:solidFill>
              </a:rPr>
              <a:t>BEST ALL-ROUNDER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8092440" y="178308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gemma4:31b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092440" y="221284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675"/>
                </a:solidFill>
              </a:rPr>
              <a:t>97.7% recall, 86.5% precision, 9.5 s per document</a:t>
            </a:r>
            <a:endParaRPr lang="en-US" sz="1300" dirty="0"/>
          </a:p>
        </p:txBody>
      </p:sp>
      <p:sp>
        <p:nvSpPr>
          <p:cNvPr id="8" name="card"/>
          <p:cNvSpPr/>
          <p:nvPr/>
        </p:nvSpPr>
        <p:spPr>
          <a:xfrm>
            <a:off x="7863840" y="2971800"/>
            <a:ext cx="37947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D5DB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092440" y="31089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675"/>
                </a:solidFill>
              </a:rPr>
              <a:t>BEST BALANCE OF SPEED AND ACCURACY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092440" y="338328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gpt-oss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8092440" y="381304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675"/>
                </a:solidFill>
              </a:rPr>
              <a:t>94.6% recall at 6.3 s, about a third faster</a:t>
            </a:r>
            <a:endParaRPr lang="en-US" sz="1300" dirty="0"/>
          </a:p>
        </p:txBody>
      </p:sp>
      <p:sp>
        <p:nvSpPr>
          <p:cNvPr id="12" name="card"/>
          <p:cNvSpPr/>
          <p:nvPr/>
        </p:nvSpPr>
        <p:spPr>
          <a:xfrm>
            <a:off x="7863840" y="4572000"/>
            <a:ext cx="37947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D5DB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8092440" y="47091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675"/>
                </a:solidFill>
              </a:rPr>
              <a:t>FASTEST, FOR A FIRST PASS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092440" y="498348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gemma4:e4b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8092440" y="541324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675"/>
                </a:solidFill>
              </a:rPr>
              <a:t>2.3 s per document, but it misses the most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0533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675"/>
                </a:solidFill>
              </a:rPr>
              <a:t>750 documents, final dataset. Higher is better for both.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Marked automatically, safely</a:t>
            </a:r>
            <a:endParaRPr lang="en-US" sz="3600" dirty="0"/>
          </a:p>
        </p:txBody>
      </p:sp>
      <p:pic>
        <p:nvPicPr>
          <p:cNvPr id="3" name="A stored run scored against the answer key" descr="A stored run scored against the answer 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498080" cy="3885369"/>
          </a:xfrm>
          <a:prstGeom prst="rect">
            <a:avLst/>
          </a:prstGeom>
        </p:spPr>
      </p:pic>
      <p:sp>
        <p:nvSpPr>
          <p:cNvPr id="4" name="frame"/>
          <p:cNvSpPr/>
          <p:nvPr/>
        </p:nvSpPr>
        <p:spPr>
          <a:xfrm>
            <a:off x="548640" y="1371600"/>
            <a:ext cx="7498080" cy="3885369"/>
          </a:xfrm>
          <a:prstGeom prst="rect">
            <a:avLst/>
          </a:prstGeom>
          <a:ln w="9525">
            <a:solidFill>
              <a:srgbClr val="D5DBE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138160" y="137160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F2733"/>
                </a:solidFill>
              </a:rPr>
              <a:t>Local and private means we can evaluate openly. Each result is marked against an answer key, so every run gets a score.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8138160" y="3154680"/>
            <a:ext cx="35661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5B6675"/>
                </a:solidFill>
              </a:rPr>
              <a:t>Recall, precision, missed items, over-redactions and time, all worked out automatically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5B6675"/>
                </a:solidFill>
              </a:rPr>
              <a:t>Any stored run can be replayed in the UI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5B6675"/>
                </a:solidFill>
              </a:rPr>
              <a:t>Answer keys: generator labels checked by rule, or written by hand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was built</a:t>
            </a:r>
            <a:endParaRPr lang="en-US" sz="3600" dirty="0"/>
          </a:p>
        </p:txBody>
      </p:sp>
      <p:sp>
        <p:nvSpPr>
          <p:cNvPr id="3" name="card"/>
          <p:cNvSpPr/>
          <p:nvPr/>
        </p:nvSpPr>
        <p:spPr>
          <a:xfrm>
            <a:off x="548640" y="1645920"/>
            <a:ext cx="246888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D5DB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371600" y="1920240"/>
            <a:ext cx="822960" cy="822960"/>
          </a:xfrm>
          <a:prstGeom prst="ellipse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pic>
        <p:nvPicPr>
          <p:cNvPr id="5" name="Image 0" descr="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0881" y="2109521"/>
            <a:ext cx="444398" cy="44439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30175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2733"/>
                </a:solidFill>
              </a:rPr>
              <a:t>Write a story</a:t>
            </a:r>
            <a:endParaRPr lang="en-US" sz="1800" dirty="0"/>
          </a:p>
        </p:txBody>
      </p:sp>
      <p:sp>
        <p:nvSpPr>
          <p:cNvPr id="7" name="arrow"/>
          <p:cNvSpPr/>
          <p:nvPr/>
        </p:nvSpPr>
        <p:spPr>
          <a:xfrm>
            <a:off x="3072384" y="2423160"/>
            <a:ext cx="256032" cy="365760"/>
          </a:xfrm>
          <a:prstGeom prst="rightArrow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sp>
        <p:nvSpPr>
          <p:cNvPr id="8" name="card"/>
          <p:cNvSpPr/>
          <p:nvPr/>
        </p:nvSpPr>
        <p:spPr>
          <a:xfrm>
            <a:off x="3383280" y="1645920"/>
            <a:ext cx="246888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D5DB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206240" y="1920240"/>
            <a:ext cx="822960" cy="822960"/>
          </a:xfrm>
          <a:prstGeom prst="ellipse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pic>
        <p:nvPicPr>
          <p:cNvPr id="10" name="Image 1" descr="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5521" y="2109521"/>
            <a:ext cx="444398" cy="44439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474720" y="30175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2733"/>
                </a:solidFill>
              </a:rPr>
              <a:t>Agree a plan</a:t>
            </a:r>
            <a:endParaRPr lang="en-US" sz="1800" dirty="0"/>
          </a:p>
        </p:txBody>
      </p:sp>
      <p:sp>
        <p:nvSpPr>
          <p:cNvPr id="12" name="arrow"/>
          <p:cNvSpPr/>
          <p:nvPr/>
        </p:nvSpPr>
        <p:spPr>
          <a:xfrm>
            <a:off x="5907024" y="2423160"/>
            <a:ext cx="256032" cy="365760"/>
          </a:xfrm>
          <a:prstGeom prst="rightArrow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sp>
        <p:nvSpPr>
          <p:cNvPr id="13" name="card"/>
          <p:cNvSpPr/>
          <p:nvPr/>
        </p:nvSpPr>
        <p:spPr>
          <a:xfrm>
            <a:off x="6217920" y="1645920"/>
            <a:ext cx="246888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D5DB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040880" y="1920240"/>
            <a:ext cx="822960" cy="822960"/>
          </a:xfrm>
          <a:prstGeom prst="ellipse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pic>
        <p:nvPicPr>
          <p:cNvPr id="15" name="Image 2" descr="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0161" y="2109521"/>
            <a:ext cx="444398" cy="44439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09360" y="30175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2733"/>
                </a:solidFill>
              </a:rPr>
              <a:t>Claude builds it</a:t>
            </a:r>
            <a:endParaRPr lang="en-US" sz="1800" dirty="0"/>
          </a:p>
        </p:txBody>
      </p:sp>
      <p:sp>
        <p:nvSpPr>
          <p:cNvPr id="17" name="arrow"/>
          <p:cNvSpPr/>
          <p:nvPr/>
        </p:nvSpPr>
        <p:spPr>
          <a:xfrm>
            <a:off x="8741664" y="2423160"/>
            <a:ext cx="256032" cy="365760"/>
          </a:xfrm>
          <a:prstGeom prst="rightArrow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sp>
        <p:nvSpPr>
          <p:cNvPr id="18" name="card"/>
          <p:cNvSpPr/>
          <p:nvPr/>
        </p:nvSpPr>
        <p:spPr>
          <a:xfrm>
            <a:off x="9052560" y="1645920"/>
            <a:ext cx="246888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D5DB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9875520" y="1920240"/>
            <a:ext cx="822960" cy="822960"/>
          </a:xfrm>
          <a:prstGeom prst="ellipse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pic>
        <p:nvPicPr>
          <p:cNvPr id="20" name="Image 3" descr="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64801" y="2109521"/>
            <a:ext cx="444398" cy="44439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144000" y="30175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2733"/>
                </a:solidFill>
              </a:rPr>
              <a:t>I review and steer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548640" y="4023360"/>
            <a:ext cx="1109441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733"/>
                </a:solidFill>
              </a:rPr>
              <a:t>5 days from first idea to a working app and evaluation suite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733"/>
                </a:solidFill>
              </a:rPr>
              <a:t>No direct coding: stories and plans in, working code out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733"/>
                </a:solidFill>
              </a:rPr>
              <a:t>Smaller stories worked better than big ones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733"/>
                </a:solidFill>
              </a:rPr>
              <a:t>Honest note: this is not a complex app. The point is how fast the loop is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it, or ask me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94360" y="1645920"/>
            <a:ext cx="822960" cy="822960"/>
          </a:xfrm>
          <a:prstGeom prst="ellipse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pic>
        <p:nvPicPr>
          <p:cNvPr id="4" name="Image 0" descr="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641" y="1835201"/>
            <a:ext cx="444398" cy="44439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737360" y="164592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Download the project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737360" y="214884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D1DA"/>
                </a:solidFill>
              </a:rPr>
              <a:t>github.com/DavidBerryUK/AiRedaction (public)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94360" y="3200400"/>
            <a:ext cx="822960" cy="822960"/>
          </a:xfrm>
          <a:prstGeom prst="ellipse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pic>
        <p:nvPicPr>
          <p:cNvPr id="8" name="Image 1" descr="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641" y="3389681"/>
            <a:ext cx="444398" cy="44439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737360" y="320040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See the evaluation data</a:t>
            </a:r>
            <a:endParaRPr lang="en-US" sz="2400" dirty="0"/>
          </a:p>
        </p:txBody>
      </p:sp>
      <p:sp>
        <p:nvSpPr>
          <p:cNvPr id="10" name="Text 6"/>
          <p:cNvSpPr txBox="1"/>
          <p:nvPr/>
        </p:nvSpPr>
        <p:spPr>
          <a:xfrm>
            <a:off x="1737360" y="370332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D1DA"/>
                </a:solidFill>
              </a:rPr>
              <a:t>Open the Explorer and browse all 17,250 results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594360" y="4754880"/>
            <a:ext cx="822960" cy="822960"/>
          </a:xfrm>
          <a:prstGeom prst="ellipse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pic>
        <p:nvPicPr>
          <p:cNvPr id="12" name="Image 2" descr="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641" y="4944161"/>
            <a:ext cx="444398" cy="44439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737360" y="475488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Ask me about it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1737360" y="525780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D1DA"/>
                </a:solidFill>
              </a:rPr>
              <a:t>dave.berry@answerdigital.com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8138160" y="1645920"/>
            <a:ext cx="3474720" cy="393192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mage 3" descr="QR code linking to the GitHub repositor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1828800"/>
            <a:ext cx="3017520" cy="30175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138160" y="4937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733"/>
                </a:solidFill>
              </a:rPr>
              <a:t>Scan for the repo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AB4C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dactor">
  <a:themeElements>
    <a:clrScheme name="Redactor">
      <a:dk1>
        <a:srgbClr val="1F2733"/>
      </a:dk1>
      <a:lt1>
        <a:srgbClr val="FFFFFF"/>
      </a:lt1>
      <a:dk2>
        <a:srgbClr val="343F4E"/>
      </a:dk2>
      <a:lt2>
        <a:srgbClr val="F2F5F7"/>
      </a:lt2>
      <a:accent1>
        <a:srgbClr val="FFC72C"/>
      </a:accent1>
      <a:accent2>
        <a:srgbClr val="2FA58B"/>
      </a:accent2>
      <a:accent3>
        <a:srgbClr val="D6537A"/>
      </a:accent3>
      <a:accent4>
        <a:srgbClr val="5B9BD5"/>
      </a:accent4>
      <a:accent5>
        <a:srgbClr val="8E6FD0"/>
      </a:accent5>
      <a:accent6>
        <a:srgbClr val="E88A3C"/>
      </a:accent6>
      <a:hlink>
        <a:srgbClr val="1F6FB2"/>
      </a:hlink>
      <a:folHlink>
        <a:srgbClr val="6B4FA0"/>
      </a:folHlink>
    </a:clrScheme>
    <a:fontScheme name="Redactor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Answer Digital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Redacting documents with local AI models</dc:title>
  <dc:subject>PptxGenJS Presentation</dc:subject>
  <dc:creator>Dave Berry</dc:creator>
  <cp:lastModifiedBy>Dave Berry</cp:lastModifiedBy>
  <cp:revision>1</cp:revision>
  <dcterms:created xsi:type="dcterms:W3CDTF">2026-10-08T08:28:56Z</dcterms:created>
  <dcterms:modified xsi:type="dcterms:W3CDTF">2026-10-08T08:28:56Z</dcterms:modified>
</cp:coreProperties>
</file>